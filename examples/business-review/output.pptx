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Purpose: Background — Part 1
Key argument: Our existing monolithic architecture faces several critical limitations:
Transition: Next slide covers Single point of failure in the central message broker
Suggested duration: ~6s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Purpose: Background — Part 2
Key argument: Single point of failure in the central message broker
Transition: Next slide covers How the research was conducted
Suggested duration: ~6s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Purpose: Methodology — Part 1
Key argument: After full implementation, we project:
Transition: Next slide covers Inability to scale database writes independently
Suggested duration: ~6s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Purpose: Methodology — Part 2
Key argument: Inability to scale database writes independently
Transition: Next slide covers What the data shows
Suggested duration: ~6s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Purpose: Results — Part 1
Key argument: Sub-100ms end-to-end event processing latency
Transition: Next slide covers What results mean for the field
Suggested duration: ~6s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Purpose: Discussion — Part 1
Key argument: Flink state management complexity
Transition: Next slide covers Summary and contact information
Suggested duration: ~6s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6858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11827"/>
                </a:solidFill>
              </a:rPr>
              <a:t>Our existing monolithic architecture faces several critical limitations: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6858000" cy="5029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11827"/>
                </a:solidFill>
              </a:rPr>
              <a:t>Single point of failure in the central message broker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11827"/>
                </a:solidFill>
              </a:rPr>
              <a:t>Inability to scale database writes independently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11827"/>
                </a:solidFill>
              </a:rPr>
              <a:t>Deployment cycles averaging 4 hours per release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11827"/>
                </a:solidFill>
              </a:rPr>
              <a:t>Debugging distributed transactions across 12 microservices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457200" y="6400800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CA3AF"/>
                </a:solidFill>
              </a:rPr>
              <a:t>para-001, list-000-item-0, list-000-item-1, list-000-item-2, list-000-item-3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6858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11827"/>
                </a:solidFill>
              </a:rPr>
              <a:t>Single point of failure in the central message broker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6858000" cy="5029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11827"/>
                </a:solidFill>
              </a:rPr>
              <a:t>Inability to scale database writes independently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11827"/>
                </a:solidFill>
              </a:rPr>
              <a:t>Deployment cycles averaging 4 hours per release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11827"/>
                </a:solidFill>
              </a:rPr>
              <a:t>Debugging distributed transactions across 12 microservices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11827"/>
                </a:solidFill>
              </a:rPr>
              <a:t>Our existing monolithic architecture faces several critical limitations: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457200" y="6400800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CA3AF"/>
                </a:solidFill>
              </a:rPr>
              <a:t>para-001, list-000-item-0, list-000-item-1, list-000-item-2, list-000-item-3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286000"/>
            <a:ext cx="76200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11827"/>
                </a:solidFill>
              </a:rPr>
              <a:t>Methodology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6400800"/>
            <a:ext cx="7620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CA3AF"/>
                </a:solidFill>
              </a:rPr>
              <a:t>para-000, para-001, para-002, para-003, para-004, para-005, list-000-item-0, list-000-item-1, list-000-item-2, list-000-item-3, list-001-item-0, list-001-item-1, list-001-item-2, list-001-item-3, list-001-item-4, list-001-item-5, list-002-item-0, list-002-item-1, list-002-item-2, list-002-item-3, list-002-item-4, list-003-item-0, list-003-item-1, list-003-item-2, list-004-item-0, list-004-item-1, list-004-item-2, list-005-item-0, list-005-item-1, list-005-item-2, list-006-item-0, list-006-item-1, list-006-item-2, list-006-item-3, tbl-000-header-0, tbl-000-header-1, tbl-000-header-2, tbl-000-row-0-cell-0, tbl-000-row-0-cell-1, tbl-000-row-0-cell-2, tbl-000-row-1-cell-0, tbl-000-row-1-cell-1, tbl-000-row-1-cell-2, tbl-000-row-2-cell-0, tbl-000-row-2-cell-1, tbl-000-row-2-cell-2, tbl-000-row-3-cell-0, tbl-000-row-3-cell-1, tbl-000-row-3-cell-2, tbl-000-row-4-cell-0, tbl-000-row-4-cell-1, tbl-000-row-4-cell-2, tbl-001-header-0, tbl-001-header-1, tbl-001-header-2, tbl-001-row-0-cell-0, tbl-001-row-0-cell-1, tbl-001-row-0-cell-2, tbl-001-row-1-cell-0, tbl-001-row-1-cell-1, tbl-001-row-1-cell-2, tbl-001-row-2-cell-0, tbl-001-row-2-cell-1, tbl-001-row-2-cell-2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7620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11827"/>
                </a:solidFill>
              </a:rPr>
              <a:t>Project Phoenix is a next-generation distributed system designed to handle high-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457200" y="1371600"/>
            <a:ext cx="1371600" cy="1097280"/>
          </a:xfrm>
          <a:prstGeom prst="roundRect">
            <a:avLst>
              <a:gd name="adj" fmla="val 8333"/>
            </a:avLst>
          </a:prstGeom>
          <a:solidFill>
            <a:srgbClr val="E5E7E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1463040"/>
            <a:ext cx="1280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Step 1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1828800" y="1920240"/>
            <a:ext cx="914400" cy="914400"/>
          </a:xfrm>
          <a:prstGeom prst="line">
            <a:avLst/>
          </a:prstGeom>
          <a:noFill/>
          <a:ln w="25400">
            <a:solidFill>
              <a:srgbClr val="9CA3A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965960" y="1828800"/>
            <a:ext cx="914400" cy="914400"/>
          </a:xfrm>
          <a:prstGeom prst="line">
            <a:avLst/>
          </a:prstGeom>
          <a:noFill/>
          <a:ln w="25400">
            <a:solidFill>
              <a:srgbClr val="9CA3A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965960" y="2011680"/>
            <a:ext cx="914400" cy="914400"/>
          </a:xfrm>
          <a:prstGeom prst="line">
            <a:avLst/>
          </a:prstGeom>
          <a:noFill/>
          <a:ln w="25400">
            <a:solidFill>
              <a:srgbClr val="9CA3A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011680" y="1371600"/>
            <a:ext cx="1371600" cy="1097280"/>
          </a:xfrm>
          <a:prstGeom prst="roundRect">
            <a:avLst>
              <a:gd name="adj" fmla="val 8333"/>
            </a:avLst>
          </a:prstGeom>
          <a:solidFill>
            <a:srgbClr val="10B981"/>
          </a:solidFill>
          <a:ln/>
        </p:spPr>
      </p:sp>
      <p:sp>
        <p:nvSpPr>
          <p:cNvPr id="9" name="Text 7"/>
          <p:cNvSpPr/>
          <p:nvPr/>
        </p:nvSpPr>
        <p:spPr>
          <a:xfrm>
            <a:off x="2057400" y="1463040"/>
            <a:ext cx="1280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Step 2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383280" y="1920240"/>
            <a:ext cx="914400" cy="914400"/>
          </a:xfrm>
          <a:prstGeom prst="line">
            <a:avLst/>
          </a:prstGeom>
          <a:noFill/>
          <a:ln w="25400">
            <a:solidFill>
              <a:srgbClr val="9CA3A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520440" y="1828800"/>
            <a:ext cx="914400" cy="914400"/>
          </a:xfrm>
          <a:prstGeom prst="line">
            <a:avLst/>
          </a:prstGeom>
          <a:noFill/>
          <a:ln w="25400">
            <a:solidFill>
              <a:srgbClr val="9CA3A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520440" y="2011680"/>
            <a:ext cx="914400" cy="914400"/>
          </a:xfrm>
          <a:prstGeom prst="line">
            <a:avLst/>
          </a:prstGeom>
          <a:noFill/>
          <a:ln w="25400">
            <a:solidFill>
              <a:srgbClr val="9CA3A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566160" y="1371600"/>
            <a:ext cx="1371600" cy="1097280"/>
          </a:xfrm>
          <a:prstGeom prst="roundRect">
            <a:avLst>
              <a:gd name="adj" fmla="val 8333"/>
            </a:avLst>
          </a:prstGeom>
          <a:solidFill>
            <a:srgbClr val="F59E0B"/>
          </a:solidFill>
          <a:ln/>
        </p:spPr>
      </p:sp>
      <p:sp>
        <p:nvSpPr>
          <p:cNvPr id="14" name="Text 12"/>
          <p:cNvSpPr/>
          <p:nvPr/>
        </p:nvSpPr>
        <p:spPr>
          <a:xfrm>
            <a:off x="3611880" y="1463040"/>
            <a:ext cx="1280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Step 3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457200" y="6400800"/>
            <a:ext cx="7620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CA3AF"/>
                </a:solidFill>
              </a:rPr>
              <a:t>para-000, para-001, para-002, para-003, para-004, para-005, list-000-item-0, list-000-item-1, list-000-item-2, list-000-item-3, list-001-item-0, list-001-item-1, list-001-item-2, list-001-item-3, list-001-item-4, list-001-item-5, list-002-item-0, list-002-item-1, list-002-item-2, list-002-item-3, list-002-item-4, list-003-item-0, list-003-item-1, list-003-item-2, list-004-item-0, list-004-item-1, list-004-item-2, list-005-item-0, list-005-item-1, list-005-item-2, list-006-item-0, list-006-item-1, list-006-item-2, list-006-item-3, tbl-000-header-0, tbl-000-header-1, tbl-000-header-2, tbl-000-row-0-cell-0, tbl-000-row-0-cell-1, tbl-000-row-0-cell-2, tbl-000-row-1-cell-0, tbl-000-row-1-cell-1, tbl-000-row-1-cell-2, tbl-000-row-2-cell-0, tbl-000-row-2-cell-1, tbl-000-row-2-cell-2, tbl-000-row-3-cell-0, tbl-000-row-3-cell-1, tbl-000-row-3-cell-2, tbl-000-row-4-cell-0, tbl-000-row-4-cell-1, tbl-000-row-4-cell-2, tbl-001-header-0, tbl-001-header-1, tbl-001-header-2, tbl-001-row-0-cell-0, tbl-001-row-0-cell-1, tbl-001-row-0-cell-2, tbl-001-row-1-cell-0, tbl-001-row-1-cell-1, tbl-001-row-1-cell-2, tbl-001-row-2-cell-0, tbl-001-row-2-cell-1, tbl-001-row-2-cell-2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7620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11827"/>
                </a:solidFill>
              </a:rPr>
              <a:t>Our existing monolithic architecture faces several critical limitations: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457200" y="1371600"/>
            <a:ext cx="1371600" cy="1097280"/>
          </a:xfrm>
          <a:prstGeom prst="roundRect">
            <a:avLst>
              <a:gd name="adj" fmla="val 8333"/>
            </a:avLst>
          </a:prstGeom>
          <a:solidFill>
            <a:srgbClr val="E5E7E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1463040"/>
            <a:ext cx="1280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Step 1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1828800" y="1920240"/>
            <a:ext cx="914400" cy="914400"/>
          </a:xfrm>
          <a:prstGeom prst="line">
            <a:avLst/>
          </a:prstGeom>
          <a:noFill/>
          <a:ln w="25400">
            <a:solidFill>
              <a:srgbClr val="9CA3A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965960" y="1828800"/>
            <a:ext cx="914400" cy="914400"/>
          </a:xfrm>
          <a:prstGeom prst="line">
            <a:avLst/>
          </a:prstGeom>
          <a:noFill/>
          <a:ln w="25400">
            <a:solidFill>
              <a:srgbClr val="9CA3A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965960" y="2011680"/>
            <a:ext cx="914400" cy="914400"/>
          </a:xfrm>
          <a:prstGeom prst="line">
            <a:avLst/>
          </a:prstGeom>
          <a:noFill/>
          <a:ln w="25400">
            <a:solidFill>
              <a:srgbClr val="9CA3A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011680" y="1371600"/>
            <a:ext cx="1371600" cy="1097280"/>
          </a:xfrm>
          <a:prstGeom prst="roundRect">
            <a:avLst>
              <a:gd name="adj" fmla="val 8333"/>
            </a:avLst>
          </a:prstGeom>
          <a:solidFill>
            <a:srgbClr val="10B981"/>
          </a:solidFill>
          <a:ln/>
        </p:spPr>
      </p:sp>
      <p:sp>
        <p:nvSpPr>
          <p:cNvPr id="9" name="Text 7"/>
          <p:cNvSpPr/>
          <p:nvPr/>
        </p:nvSpPr>
        <p:spPr>
          <a:xfrm>
            <a:off x="2057400" y="1463040"/>
            <a:ext cx="1280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Step 2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383280" y="1920240"/>
            <a:ext cx="914400" cy="914400"/>
          </a:xfrm>
          <a:prstGeom prst="line">
            <a:avLst/>
          </a:prstGeom>
          <a:noFill/>
          <a:ln w="25400">
            <a:solidFill>
              <a:srgbClr val="9CA3A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520440" y="1828800"/>
            <a:ext cx="914400" cy="914400"/>
          </a:xfrm>
          <a:prstGeom prst="line">
            <a:avLst/>
          </a:prstGeom>
          <a:noFill/>
          <a:ln w="25400">
            <a:solidFill>
              <a:srgbClr val="9CA3A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520440" y="2011680"/>
            <a:ext cx="914400" cy="914400"/>
          </a:xfrm>
          <a:prstGeom prst="line">
            <a:avLst/>
          </a:prstGeom>
          <a:noFill/>
          <a:ln w="25400">
            <a:solidFill>
              <a:srgbClr val="9CA3A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566160" y="1371600"/>
            <a:ext cx="1371600" cy="1097280"/>
          </a:xfrm>
          <a:prstGeom prst="roundRect">
            <a:avLst>
              <a:gd name="adj" fmla="val 8333"/>
            </a:avLst>
          </a:prstGeom>
          <a:solidFill>
            <a:srgbClr val="F59E0B"/>
          </a:solidFill>
          <a:ln/>
        </p:spPr>
      </p:sp>
      <p:sp>
        <p:nvSpPr>
          <p:cNvPr id="14" name="Text 12"/>
          <p:cNvSpPr/>
          <p:nvPr/>
        </p:nvSpPr>
        <p:spPr>
          <a:xfrm>
            <a:off x="3611880" y="1463040"/>
            <a:ext cx="1280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Step 3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457200" y="6400800"/>
            <a:ext cx="7620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CA3AF"/>
                </a:solidFill>
              </a:rPr>
              <a:t>para-000, para-001, para-002, para-003, para-004, para-005, list-000-item-0, list-000-item-1, list-000-item-2, list-000-item-3, list-001-item-0, list-001-item-1, list-001-item-2, list-001-item-3, list-001-item-4, list-001-item-5, list-002-item-0, list-002-item-1, list-002-item-2, list-002-item-3, list-002-item-4, list-003-item-0, list-003-item-1, list-003-item-2, list-004-item-0, list-004-item-1, list-004-item-2, list-005-item-0, list-005-item-1, list-005-item-2, list-006-item-0, list-006-item-1, list-006-item-2, list-006-item-3, tbl-000-header-0, tbl-000-header-1, tbl-000-header-2, tbl-000-row-0-cell-0, tbl-000-row-0-cell-1, tbl-000-row-0-cell-2, tbl-000-row-1-cell-0, tbl-000-row-1-cell-1, tbl-000-row-1-cell-2, tbl-000-row-2-cell-0, tbl-000-row-2-cell-1, tbl-000-row-2-cell-2, tbl-000-row-3-cell-0, tbl-000-row-3-cell-1, tbl-000-row-3-cell-2, tbl-000-row-4-cell-0, tbl-000-row-4-cell-1, tbl-000-row-4-cell-2, tbl-001-header-0, tbl-001-header-1, tbl-001-header-2, tbl-001-row-0-cell-0, tbl-001-row-0-cell-1, tbl-001-row-0-cell-2, tbl-001-row-1-cell-0, tbl-001-row-1-cell-1, tbl-001-row-1-cell-2, tbl-001-row-2-cell-0, tbl-001-row-2-cell-1, tbl-001-row-2-cell-2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286000"/>
            <a:ext cx="76200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11827"/>
                </a:solidFill>
              </a:rPr>
              <a:t>Results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6400800"/>
            <a:ext cx="7620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CA3AF"/>
                </a:solidFill>
              </a:rPr>
              <a:t>para-003, para-004, list-002-item-0, list-002-item-1, list-002-item-2, list-002-item-3, list-002-item-4, list-006-item-0, list-006-item-1, list-006-item-2, list-006-item-3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6858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11827"/>
                </a:solidFill>
              </a:rPr>
              <a:t>The system follows an event-driven architecture: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6858000" cy="5029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11827"/>
                </a:solidFill>
              </a:rPr>
              <a:t>Sub-100ms end-to-end event processing latency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11827"/>
                </a:solidFill>
              </a:rPr>
              <a:t>After full implementation, we project: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11827"/>
                </a:solidFill>
              </a:rPr>
              <a:t>Events enter through the Ingestion Service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11827"/>
                </a:solidFill>
              </a:rPr>
              <a:t>Kafka topics partition events by tenant and event type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11827"/>
                </a:solidFill>
              </a:rPr>
              <a:t>Flink consumers process events in real-time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457200" y="6400800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CA3AF"/>
                </a:solidFill>
              </a:rPr>
              <a:t>para-003, para-004, list-002-item-0, list-002-item-1, list-002-item-2, list-002-item-3, list-002-item-4, list-006-item-0, list-006-item-1, list-006-item-2, list-006-item-3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286000"/>
            <a:ext cx="76200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11827"/>
                </a:solidFill>
              </a:rPr>
              <a:t>Discussion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6400800"/>
            <a:ext cx="7620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CA3AF"/>
                </a:solidFill>
              </a:rPr>
              <a:t>para-000, para-005, tbl-001-header-0, tbl-001-header-1, tbl-001-header-2, tbl-001-row-0-cell-0, tbl-001-row-0-cell-1, tbl-001-row-0-cell-2, tbl-001-row-1-cell-0, tbl-001-row-1-cell-1, tbl-001-row-1-cell-2, tbl-001-row-2-cell-0, tbl-001-row-2-cell-1, tbl-001-row-2-cell-2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6858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11827"/>
                </a:solidFill>
              </a:rPr>
              <a:t>Project Phoenix is a next-generation distributed system designed to handle high-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6858000" cy="5029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11827"/>
                </a:solidFill>
              </a:rPr>
              <a:t>throughput event processing with guaranteed delivery and sub-second latency. This document outlines the architectural...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11827"/>
                </a:solidFill>
              </a:rPr>
              <a:t>Project Phoenix represents a fundamental shift from our current reactive architecture to a proactive, event-driven sy...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11827"/>
                </a:solidFill>
              </a:rPr>
              <a:t>Risk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11827"/>
                </a:solidFill>
              </a:rPr>
              <a:t>Impact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11827"/>
                </a:solidFill>
              </a:rPr>
              <a:t>Mitigation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457200" y="6400800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CA3AF"/>
                </a:solidFill>
              </a:rPr>
              <a:t>para-000, para-005, tbl-001-header-0, tbl-001-header-1, tbl-001-header-2, tbl-001-row-0-cell-0, tbl-001-row-0-cell-1, tbl-001-row-0-cell-2, tbl-001-row-1-cell-0, tbl-001-row-1-cell-1, tbl-001-row-1-cell-2, tbl-001-row-2-cell-0, tbl-001-row-2-cell-1, tbl-001-row-2-cell-2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286000"/>
            <a:ext cx="76200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11827"/>
                </a:solidFill>
              </a:rPr>
              <a:t>Thank You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914400" y="3840480"/>
            <a:ext cx="762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7280"/>
                </a:solidFill>
              </a:rPr>
              <a:t>Summary and contact information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AWE Presentation OS</dc:creator>
  <cp:lastModifiedBy>AWE Presentation OS</cp:lastModifiedBy>
  <cp:revision>1</cp:revision>
  <dcterms:created xsi:type="dcterms:W3CDTF">2026-07-18T17:36:15Z</dcterms:created>
  <dcterms:modified xsi:type="dcterms:W3CDTF">2026-07-18T17:36:15Z</dcterms:modified>
</cp:coreProperties>
</file>
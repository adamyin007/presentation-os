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Background — Part 1
Key argument: Our existing monolithic architecture faces several critical limitations:
Transition: Next slide covers Single point of failure in the central message broker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Background — Part 2
Key argument: Single point of failure in the central message broker
Transition: Next slide covers How the research was conducted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Methodology — Part 1
Key argument: After full implementation, we project:
Transition: Next slide covers Inability to scale database writes independently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Methodology — Part 2
Key argument: Inability to scale database writes independently
Transition: Next slide covers What the data shows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Results — Part 1
Key argument: Sub-100ms end-to-end event processing latency
Transition: Next slide covers What results mean for the field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Discussion — Part 1
Key argument: Flink state management complexity
Transition: Next slide covers Summary and contact information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</a:rPr>
              <a:t>Our existing monolithic architecture faces several critical limitations: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6858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Single point of failure in the central message broker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Inability to scale database writes independently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Deployment cycles averaging 4 hours per release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Debugging distributed transactions across 12 microservices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para-001, list-000-item-0, list-000-item-1, list-000-item-2, list-000-item-3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</a:rPr>
              <a:t>Single point of failure in the central message broker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6858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Inability to scale database writes independently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Deployment cycles averaging 4 hours per release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Debugging distributed transactions across 12 microservices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Our existing monolithic architecture faces several critical limitations: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para-001, list-000-item-0, list-000-item-1, list-000-item-2, list-000-item-3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11827"/>
                </a:solidFill>
              </a:rPr>
              <a:t>Methodology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para-000, para-001, para-002, para-003, para-004, para-005, list-000-item-0, list-000-item-1, list-000-item-2, list-000-item-3, list-001-item-0, list-001-item-1, list-001-item-2, list-001-item-3, list-001-item-4, list-001-item-5, list-002-item-0, list-002-item-1, list-002-item-2, list-002-item-3, list-002-item-4, list-003-item-0, list-003-item-1, list-003-item-2, list-004-item-0, list-004-item-1, list-004-item-2, list-005-item-0, list-005-item-1, list-005-item-2, list-006-item-0, list-006-item-1, list-006-item-2, list-006-item-3, tbl-000-header-0, tbl-000-header-1, tbl-000-header-2, tbl-000-row-0-cell-0, tbl-000-row-0-cell-1, tbl-000-row-0-cell-2, tbl-000-row-1-cell-0, tbl-000-row-1-cell-1, tbl-000-row-1-cell-2, tbl-000-row-2-cell-0, tbl-000-row-2-cell-1, tbl-000-row-2-cell-2, tbl-000-row-3-cell-0, tbl-000-row-3-cell-1, tbl-000-row-3-cell-2, tbl-000-row-4-cell-0, tbl-000-row-4-cell-1, tbl-000-row-4-cell-2, tbl-001-header-0, tbl-001-header-1, tbl-001-header-2, tbl-001-row-0-cell-0, tbl-001-row-0-cell-1, tbl-001-row-0-cell-2, tbl-001-row-1-cell-0, tbl-001-row-1-cell-1, tbl-001-row-1-cell-2, tbl-001-row-2-cell-0, tbl-001-row-2-cell-1, tbl-001-row-2-cell-2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</a:rPr>
              <a:t>Project Phoenix is a next-generation distributed system designed to handle high-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E5E7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828800" y="192024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65960" y="182880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65960" y="201168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205740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192024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20440" y="182880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20440" y="201168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6616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361188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3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para-000, para-001, para-002, para-003, para-004, para-005, list-000-item-0, list-000-item-1, list-000-item-2, list-000-item-3, list-001-item-0, list-001-item-1, list-001-item-2, list-001-item-3, list-001-item-4, list-001-item-5, list-002-item-0, list-002-item-1, list-002-item-2, list-002-item-3, list-002-item-4, list-003-item-0, list-003-item-1, list-003-item-2, list-004-item-0, list-004-item-1, list-004-item-2, list-005-item-0, list-005-item-1, list-005-item-2, list-006-item-0, list-006-item-1, list-006-item-2, list-006-item-3, tbl-000-header-0, tbl-000-header-1, tbl-000-header-2, tbl-000-row-0-cell-0, tbl-000-row-0-cell-1, tbl-000-row-0-cell-2, tbl-000-row-1-cell-0, tbl-000-row-1-cell-1, tbl-000-row-1-cell-2, tbl-000-row-2-cell-0, tbl-000-row-2-cell-1, tbl-000-row-2-cell-2, tbl-000-row-3-cell-0, tbl-000-row-3-cell-1, tbl-000-row-3-cell-2, tbl-000-row-4-cell-0, tbl-000-row-4-cell-1, tbl-000-row-4-cell-2, tbl-001-header-0, tbl-001-header-1, tbl-001-header-2, tbl-001-row-0-cell-0, tbl-001-row-0-cell-1, tbl-001-row-0-cell-2, tbl-001-row-1-cell-0, tbl-001-row-1-cell-1, tbl-001-row-1-cell-2, tbl-001-row-2-cell-0, tbl-001-row-2-cell-1, tbl-001-row-2-cell-2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</a:rPr>
              <a:t>Our existing monolithic architecture faces several critical limitations: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E5E7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828800" y="192024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65960" y="182880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65960" y="201168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205740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192024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20440" y="182880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20440" y="201168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6616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361188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3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para-000, para-001, para-002, para-003, para-004, para-005, list-000-item-0, list-000-item-1, list-000-item-2, list-000-item-3, list-001-item-0, list-001-item-1, list-001-item-2, list-001-item-3, list-001-item-4, list-001-item-5, list-002-item-0, list-002-item-1, list-002-item-2, list-002-item-3, list-002-item-4, list-003-item-0, list-003-item-1, list-003-item-2, list-004-item-0, list-004-item-1, list-004-item-2, list-005-item-0, list-005-item-1, list-005-item-2, list-006-item-0, list-006-item-1, list-006-item-2, list-006-item-3, tbl-000-header-0, tbl-000-header-1, tbl-000-header-2, tbl-000-row-0-cell-0, tbl-000-row-0-cell-1, tbl-000-row-0-cell-2, tbl-000-row-1-cell-0, tbl-000-row-1-cell-1, tbl-000-row-1-cell-2, tbl-000-row-2-cell-0, tbl-000-row-2-cell-1, tbl-000-row-2-cell-2, tbl-000-row-3-cell-0, tbl-000-row-3-cell-1, tbl-000-row-3-cell-2, tbl-000-row-4-cell-0, tbl-000-row-4-cell-1, tbl-000-row-4-cell-2, tbl-001-header-0, tbl-001-header-1, tbl-001-header-2, tbl-001-row-0-cell-0, tbl-001-row-0-cell-1, tbl-001-row-0-cell-2, tbl-001-row-1-cell-0, tbl-001-row-1-cell-1, tbl-001-row-1-cell-2, tbl-001-row-2-cell-0, tbl-001-row-2-cell-1, tbl-001-row-2-cell-2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11827"/>
                </a:solidFill>
              </a:rPr>
              <a:t>Results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para-003, para-004, list-002-item-0, list-002-item-1, list-002-item-2, list-002-item-3, list-002-item-4, list-006-item-0, list-006-item-1, list-006-item-2, list-006-item-3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</a:rPr>
              <a:t>The system follows an event-driven architecture: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6858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Sub-100ms end-to-end event processing latency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After full implementation, we project: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Events enter through the Ingestion Service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Kafka topics partition events by tenant and event type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Flink consumers process events in real-time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para-003, para-004, list-002-item-0, list-002-item-1, list-002-item-2, list-002-item-3, list-002-item-4, list-006-item-0, list-006-item-1, list-006-item-2, list-006-item-3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11827"/>
                </a:solidFill>
              </a:rPr>
              <a:t>Discussion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para-000, para-005, tbl-001-header-0, tbl-001-header-1, tbl-001-header-2, tbl-001-row-0-cell-0, tbl-001-row-0-cell-1, tbl-001-row-0-cell-2, tbl-001-row-1-cell-0, tbl-001-row-1-cell-1, tbl-001-row-1-cell-2, tbl-001-row-2-cell-0, tbl-001-row-2-cell-1, tbl-001-row-2-cell-2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</a:rPr>
              <a:t>Project Phoenix is a next-generation distributed system designed to handle high-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6858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throughput event processing with guaranteed delivery and sub-second latency. This document outlines the architectural...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Project Phoenix represents a fundamental shift from our current reactive architecture to a proactive, event-driven sy...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Risk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Impact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Mitigation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para-000, para-005, tbl-001-header-0, tbl-001-header-1, tbl-001-header-2, tbl-001-row-0-cell-0, tbl-001-row-0-cell-1, tbl-001-row-0-cell-2, tbl-001-row-1-cell-0, tbl-001-row-1-cell-1, tbl-001-row-1-cell-2, tbl-001-row-2-cell-0, tbl-001-row-2-cell-1, tbl-001-row-2-cell-2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11827"/>
                </a:solidFill>
              </a:rPr>
              <a:t>Thank You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840480"/>
            <a:ext cx="762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</a:rPr>
              <a:t>Summary and contact information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AWE Presentation OS</dc:creator>
  <cp:lastModifiedBy>AWE Presentation OS</cp:lastModifiedBy>
  <cp:revision>1</cp:revision>
  <dcterms:created xsi:type="dcterms:W3CDTF">2026-07-18T17:34:07Z</dcterms:created>
  <dcterms:modified xsi:type="dcterms:W3CDTF">2026-07-18T17:34:07Z</dcterms:modified>
</cp:coreProperties>
</file>